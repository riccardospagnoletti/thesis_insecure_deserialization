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722" r:id="rId3"/>
    <p:sldId id="1029" r:id="rId4"/>
    <p:sldId id="1026" r:id="rId5"/>
    <p:sldId id="1028" r:id="rId6"/>
    <p:sldId id="1027" r:id="rId7"/>
  </p:sldIdLst>
  <p:sldSz cx="9144000" cy="6858000" type="screen4x3"/>
  <p:notesSz cx="7099300" cy="10234613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CC"/>
    <a:srgbClr val="006699"/>
    <a:srgbClr val="000066"/>
    <a:srgbClr val="0066FF"/>
    <a:srgbClr val="0066CC"/>
    <a:srgbClr val="E3E3FF"/>
    <a:srgbClr val="9999FF"/>
    <a:srgbClr val="99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8" autoAdjust="0"/>
    <p:restoredTop sz="98757" autoAdjust="0"/>
  </p:normalViewPr>
  <p:slideViewPr>
    <p:cSldViewPr>
      <p:cViewPr varScale="1">
        <p:scale>
          <a:sx n="111" d="100"/>
          <a:sy n="111" d="100"/>
        </p:scale>
        <p:origin x="19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1B76BBF-8223-4799-95C3-859F065E8F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684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0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C11F25B-D58C-4A79-8AD6-38119B174837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706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364B05ED-9CA2-4935-8602-1081F943AF8B}" type="slidenum">
              <a:rPr lang="it-IT" smtClean="0"/>
              <a:pPr defTabSz="989013"/>
              <a:t>1</a:t>
            </a:fld>
            <a:endParaRPr lang="it-IT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3831-6BF5-6E5A-6A2E-87FD12746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69249-37D9-06B9-2D31-ADB587969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2A325-B6E1-2164-15B7-79126C69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19FFC-E48C-2C37-858E-C7031792B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6939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73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3850" y="4048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713"/>
            <a:ext cx="7772400" cy="2087562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algn="ctr">
              <a:defRPr>
                <a:latin typeface="Franklin Gothic Demi" pitchFamily="34" charset="0"/>
              </a:defRPr>
            </a:lvl1pPr>
          </a:lstStyle>
          <a:p>
            <a:r>
              <a:rPr lang="it-IT"/>
              <a:t>Energy-efficient Data Collection in Wireless Sensor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3284538"/>
            <a:ext cx="8064500" cy="32400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44450"/>
            <a:ext cx="7344866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-14395"/>
            <a:ext cx="791310" cy="8077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172450" y="0"/>
            <a:ext cx="954087" cy="9540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8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82" y="61285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3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15125" y="44450"/>
            <a:ext cx="2178050" cy="6697663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383337" cy="6697663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olo e testo sopra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lipArt 3"/>
          <p:cNvSpPr>
            <a:spLocks noGrp="1"/>
          </p:cNvSpPr>
          <p:nvPr>
            <p:ph type="clipArt"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50825" y="981075"/>
            <a:ext cx="8642350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0825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250825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 userDrawn="1"/>
        </p:nvSpPr>
        <p:spPr bwMode="auto">
          <a:xfrm>
            <a:off x="323850" y="10525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39750" y="4292600"/>
            <a:ext cx="8064500" cy="1860550"/>
          </a:xfrm>
          <a:prstGeom prst="roundRect">
            <a:avLst>
              <a:gd name="adj" fmla="val 6986"/>
            </a:avLst>
          </a:prstGeom>
          <a:solidFill>
            <a:schemeClr val="bg1">
              <a:alpha val="7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135937" cy="216058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24363"/>
            <a:ext cx="7127875" cy="1655762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800">
                <a:latin typeface="Franklin Gothic Medium Cond" pitchFamily="34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3119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3119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Freeform 27"/>
          <p:cNvSpPr>
            <a:spLocks/>
          </p:cNvSpPr>
          <p:nvPr userDrawn="1"/>
        </p:nvSpPr>
        <p:spPr bwMode="auto">
          <a:xfrm>
            <a:off x="-36513" y="-26988"/>
            <a:ext cx="8280401" cy="793751"/>
          </a:xfrm>
          <a:custGeom>
            <a:avLst/>
            <a:gdLst/>
            <a:ahLst/>
            <a:cxnLst>
              <a:cxn ang="0">
                <a:pos x="4990" y="499"/>
              </a:cxn>
              <a:cxn ang="0">
                <a:pos x="0" y="499"/>
              </a:cxn>
              <a:cxn ang="0">
                <a:pos x="0" y="0"/>
              </a:cxn>
              <a:cxn ang="0">
                <a:pos x="5063" y="5"/>
              </a:cxn>
              <a:cxn ang="0">
                <a:pos x="5219" y="5"/>
              </a:cxn>
              <a:cxn ang="0">
                <a:pos x="4990" y="497"/>
              </a:cxn>
              <a:cxn ang="0">
                <a:pos x="4988" y="497"/>
              </a:cxn>
              <a:cxn ang="0">
                <a:pos x="4990" y="499"/>
              </a:cxn>
            </a:cxnLst>
            <a:rect l="0" t="0" r="r" b="b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4450"/>
            <a:ext cx="79930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Fare clic per modificare lo stile del titolo</a:t>
            </a:r>
          </a:p>
        </p:txBody>
      </p:sp>
      <p:grpSp>
        <p:nvGrpSpPr>
          <p:cNvPr id="24581" name="Group 33"/>
          <p:cNvGrpSpPr>
            <a:grpSpLocks/>
          </p:cNvGrpSpPr>
          <p:nvPr userDrawn="1"/>
        </p:nvGrpSpPr>
        <p:grpSpPr bwMode="auto">
          <a:xfrm>
            <a:off x="8243888" y="0"/>
            <a:ext cx="762000" cy="960438"/>
            <a:chOff x="4656" y="672"/>
            <a:chExt cx="480" cy="605"/>
          </a:xfrm>
        </p:grpSpPr>
        <p:grpSp>
          <p:nvGrpSpPr>
            <p:cNvPr id="24583" name="Group 34"/>
            <p:cNvGrpSpPr>
              <a:grpSpLocks/>
            </p:cNvGrpSpPr>
            <p:nvPr/>
          </p:nvGrpSpPr>
          <p:grpSpPr bwMode="auto">
            <a:xfrm>
              <a:off x="4656" y="672"/>
              <a:ext cx="480" cy="576"/>
              <a:chOff x="5280" y="0"/>
              <a:chExt cx="480" cy="576"/>
            </a:xfrm>
          </p:grpSpPr>
          <p:pic>
            <p:nvPicPr>
              <p:cNvPr id="24585" name="Picture 35" descr="images-3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5280" y="0"/>
                <a:ext cx="48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60" name="Rectangle 36"/>
              <p:cNvSpPr>
                <a:spLocks noChangeArrowheads="1"/>
              </p:cNvSpPr>
              <p:nvPr/>
            </p:nvSpPr>
            <p:spPr bwMode="auto">
              <a:xfrm>
                <a:off x="5280" y="48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it-IT"/>
              </a:p>
            </p:txBody>
          </p:sp>
        </p:grp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4656" y="1104"/>
              <a:ext cx="4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300" b="1">
                  <a:solidFill>
                    <a:srgbClr val="003366"/>
                  </a:solidFill>
                  <a:latin typeface="Courier New" pitchFamily="49" charset="0"/>
                </a:rPr>
                <a:t> </a:t>
              </a:r>
              <a:r>
                <a:rPr lang="en-US" sz="1200" b="1">
                  <a:solidFill>
                    <a:srgbClr val="000080"/>
                  </a:solidFill>
                  <a:latin typeface="Courier New" pitchFamily="49" charset="0"/>
                </a:rPr>
                <a:t>PerLab</a:t>
              </a:r>
            </a:p>
          </p:txBody>
        </p:sp>
      </p:grpSp>
      <p:sp>
        <p:nvSpPr>
          <p:cNvPr id="10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5" r:id="rId1"/>
    <p:sldLayoutId id="2147484756" r:id="rId2"/>
    <p:sldLayoutId id="2147484731" r:id="rId3"/>
    <p:sldLayoutId id="2147484757" r:id="rId4"/>
    <p:sldLayoutId id="2147484732" r:id="rId5"/>
    <p:sldLayoutId id="2147484758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  <p:sldLayoutId id="2147484744" r:id="rId1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200">
          <a:solidFill>
            <a:schemeClr val="tx1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Sommario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95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  <p:sldLayoutId id="2147484753" r:id="rId10"/>
    <p:sldLayoutId id="21474847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Font typeface="Wingdings" pitchFamily="2" charset="2"/>
        <a:buChar char="§"/>
        <a:defRPr sz="2800">
          <a:solidFill>
            <a:schemeClr val="hlink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400">
          <a:solidFill>
            <a:schemeClr val="hlink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04665"/>
            <a:ext cx="8496944" cy="2606782"/>
          </a:xfrm>
          <a:effectLst>
            <a:outerShdw dist="35921" dir="2700000" algn="ctr" rotWithShape="0">
              <a:schemeClr val="tx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Development and Evaluation of CTF Challenges about Insecure Deserialization Vulnerabilities in PHP and Java</a:t>
            </a:r>
            <a:endParaRPr lang="it-IT" sz="1600" dirty="0">
              <a:latin typeface="+mj-lt"/>
            </a:endParaRPr>
          </a:p>
        </p:txBody>
      </p:sp>
      <p:pic>
        <p:nvPicPr>
          <p:cNvPr id="31748" name="Picture 34" descr="marchio_unipi_pant541_2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1364" y="5445224"/>
            <a:ext cx="1920875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284984"/>
            <a:ext cx="8064500" cy="1812776"/>
          </a:xfrm>
        </p:spPr>
        <p:txBody>
          <a:bodyPr anchor="b"/>
          <a:lstStyle/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2126934" y="3098680"/>
            <a:ext cx="488973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Tesi di Laurea in </a:t>
            </a:r>
          </a:p>
          <a:p>
            <a:r>
              <a:rPr lang="it-IT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Ingegneria Informatica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709" y="4634101"/>
            <a:ext cx="1271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Candidato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147" y="4661696"/>
            <a:ext cx="1271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Relatori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FA4D66-7CF7-1F32-8D49-00881C52D94E}"/>
              </a:ext>
            </a:extLst>
          </p:cNvPr>
          <p:cNvSpPr txBox="1"/>
          <p:nvPr/>
        </p:nvSpPr>
        <p:spPr>
          <a:xfrm>
            <a:off x="774890" y="5034211"/>
            <a:ext cx="165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tx1"/>
                </a:solidFill>
              </a:rPr>
              <a:t>Riccardo Spagnoletti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984B5CA-17B0-D3A9-EAF8-646EF4FE7B5F}"/>
              </a:ext>
            </a:extLst>
          </p:cNvPr>
          <p:cNvSpPr txBox="1"/>
          <p:nvPr/>
        </p:nvSpPr>
        <p:spPr>
          <a:xfrm>
            <a:off x="6516216" y="5091281"/>
            <a:ext cx="165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tx1"/>
                </a:solidFill>
              </a:rPr>
              <a:t>Pericle Perazzo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F57D-C772-97FE-6FD2-1C86A894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4DEEE91-EA9D-4F2B-2DC6-08571C8093E8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Nome e </a:t>
            </a:r>
            <a:r>
              <a:rPr lang="en-US" sz="1100" i="1" dirty="0" err="1">
                <a:latin typeface="Calibri" panose="020F0502020204030204" pitchFamily="34" charset="0"/>
              </a:rPr>
              <a:t>Cognome</a:t>
            </a:r>
            <a:r>
              <a:rPr lang="en-US" sz="1100" i="1" dirty="0">
                <a:latin typeface="Calibri" panose="020F0502020204030204" pitchFamily="34" charset="0"/>
              </a:rPr>
              <a:t> del </a:t>
            </a:r>
            <a:r>
              <a:rPr lang="en-US" sz="1100" i="1" dirty="0" err="1">
                <a:latin typeface="Calibri" panose="020F0502020204030204" pitchFamily="34" charset="0"/>
              </a:rPr>
              <a:t>Candidato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2</a:t>
            </a:fld>
            <a:endParaRPr lang="it-IT" sz="1100" dirty="0">
              <a:latin typeface="Calibri" panose="020F0502020204030204" pitchFamily="34" charset="0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89826E5E-AD32-9B98-A750-149C3E6D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insecure</a:t>
            </a:r>
            <a:r>
              <a:rPr lang="it-IT" dirty="0"/>
              <a:t> </a:t>
            </a:r>
            <a:r>
              <a:rPr lang="it-IT" dirty="0" err="1"/>
              <a:t>deserialization</a:t>
            </a:r>
            <a:r>
              <a:rPr lang="it-IT" dirty="0"/>
              <a:t>?</a:t>
            </a: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9D033031-B254-F3C8-F063-CA413990F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8247" y="1248789"/>
            <a:ext cx="5687505" cy="436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73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Nome e </a:t>
            </a:r>
            <a:r>
              <a:rPr lang="en-US" sz="1100" i="1" dirty="0" err="1">
                <a:latin typeface="Calibri" panose="020F0502020204030204" pitchFamily="34" charset="0"/>
              </a:rPr>
              <a:t>Cognome</a:t>
            </a:r>
            <a:r>
              <a:rPr lang="en-US" sz="1100" i="1" dirty="0">
                <a:latin typeface="Calibri" panose="020F0502020204030204" pitchFamily="34" charset="0"/>
              </a:rPr>
              <a:t> del </a:t>
            </a:r>
            <a:r>
              <a:rPr lang="en-US" sz="1100" i="1" dirty="0" err="1">
                <a:latin typeface="Calibri" panose="020F0502020204030204" pitchFamily="34" charset="0"/>
              </a:rPr>
              <a:t>Candidato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3</a:t>
            </a:fld>
            <a:endParaRPr lang="it-IT" sz="1100" dirty="0">
              <a:latin typeface="Calibri" panose="020F0502020204030204" pitchFamily="34" charset="0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41B2B43F-86DB-02CF-3C1C-BE7B9D18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si the challenge </a:t>
            </a:r>
            <a:r>
              <a:rPr lang="it-IT" dirty="0" err="1"/>
              <a:t>built</a:t>
            </a:r>
            <a:r>
              <a:rPr lang="it-IT" dirty="0"/>
              <a:t>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458387B-8A45-8EB5-2109-150B46D0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2"/>
          <a:stretch>
            <a:fillRect/>
          </a:stretch>
        </p:blipFill>
        <p:spPr>
          <a:xfrm>
            <a:off x="1275776" y="952245"/>
            <a:ext cx="6592448" cy="495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3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Attacks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Nome e </a:t>
            </a:r>
            <a:r>
              <a:rPr lang="en-US" sz="1100" i="1" dirty="0" err="1">
                <a:latin typeface="Calibri" panose="020F0502020204030204" pitchFamily="34" charset="0"/>
              </a:rPr>
              <a:t>Cognome</a:t>
            </a:r>
            <a:r>
              <a:rPr lang="en-US" sz="1100" i="1" dirty="0">
                <a:latin typeface="Calibri" panose="020F0502020204030204" pitchFamily="34" charset="0"/>
              </a:rPr>
              <a:t> del </a:t>
            </a:r>
            <a:r>
              <a:rPr lang="en-US" sz="1100" i="1" dirty="0" err="1">
                <a:latin typeface="Calibri" panose="020F0502020204030204" pitchFamily="34" charset="0"/>
              </a:rPr>
              <a:t>Candidato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4</a:t>
            </a:fld>
            <a:endParaRPr lang="it-IT" sz="1100" dirty="0">
              <a:latin typeface="Calibri" panose="020F0502020204030204" pitchFamily="34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1C12DED-B7B1-BEBC-EAB9-802E593CD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" y="2036573"/>
            <a:ext cx="4634202" cy="2941567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6F72D56C-AEC3-1908-3C70-86238DD7E981}"/>
              </a:ext>
            </a:extLst>
          </p:cNvPr>
          <p:cNvGrpSpPr/>
          <p:nvPr/>
        </p:nvGrpSpPr>
        <p:grpSpPr>
          <a:xfrm>
            <a:off x="4665887" y="2036573"/>
            <a:ext cx="4442240" cy="3099308"/>
            <a:chOff x="4665887" y="2036573"/>
            <a:chExt cx="4442240" cy="3099308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E97766BF-AC6D-FB6A-B03E-3D338B77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3399" b="14098"/>
            <a:stretch>
              <a:fillRect/>
            </a:stretch>
          </p:blipFill>
          <p:spPr>
            <a:xfrm>
              <a:off x="4665887" y="2036573"/>
              <a:ext cx="4442240" cy="2497895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DF08E7A1-0058-93A0-BDA5-2C56BF980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4742" r="13399"/>
            <a:stretch>
              <a:fillRect/>
            </a:stretch>
          </p:blipFill>
          <p:spPr>
            <a:xfrm>
              <a:off x="4665887" y="4692209"/>
              <a:ext cx="4442240" cy="443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66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Soluzioni</a:t>
            </a:r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Nome e </a:t>
            </a:r>
            <a:r>
              <a:rPr lang="en-US" sz="1100" i="1" dirty="0" err="1">
                <a:latin typeface="Calibri" panose="020F0502020204030204" pitchFamily="34" charset="0"/>
              </a:rPr>
              <a:t>Cognome</a:t>
            </a:r>
            <a:r>
              <a:rPr lang="en-US" sz="1100" i="1">
                <a:latin typeface="Calibri" panose="020F0502020204030204" pitchFamily="34" charset="0"/>
              </a:rPr>
              <a:t> del Candidato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5</a:t>
            </a:fld>
            <a:endParaRPr lang="it-IT" sz="1100" dirty="0">
              <a:latin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F4A7E94-BBA3-98CE-95DC-64E8D7C602C5}"/>
              </a:ext>
            </a:extLst>
          </p:cNvPr>
          <p:cNvSpPr txBox="1"/>
          <p:nvPr/>
        </p:nvSpPr>
        <p:spPr>
          <a:xfrm>
            <a:off x="827584" y="1268760"/>
            <a:ext cx="75608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Replacing</a:t>
            </a:r>
            <a:r>
              <a:rPr lang="it-IT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native </a:t>
            </a: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it-IT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serialization</a:t>
            </a:r>
            <a:endParaRPr lang="it-IT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Restricting</a:t>
            </a:r>
            <a:r>
              <a:rPr lang="it-IT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unavoidable</a:t>
            </a:r>
            <a:r>
              <a:rPr lang="it-IT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native </a:t>
            </a:r>
            <a:r>
              <a:rPr lang="it-IT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deserialization</a:t>
            </a:r>
            <a:endParaRPr lang="it-IT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it-IT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it-IT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06A8DF0-FF47-8DF6-5648-8B9A1983F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04" y="2204864"/>
            <a:ext cx="7163800" cy="28579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374ACC2-4698-51B6-DBAE-2C2272AE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280" b="47757"/>
          <a:stretch>
            <a:fillRect/>
          </a:stretch>
        </p:blipFill>
        <p:spPr>
          <a:xfrm>
            <a:off x="1218904" y="1831143"/>
            <a:ext cx="7163800" cy="285790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953D9368-D841-CE85-8A1B-21E35398BCD8}"/>
              </a:ext>
            </a:extLst>
          </p:cNvPr>
          <p:cNvGrpSpPr/>
          <p:nvPr/>
        </p:nvGrpSpPr>
        <p:grpSpPr>
          <a:xfrm>
            <a:off x="625232" y="3501008"/>
            <a:ext cx="7965543" cy="1451624"/>
            <a:chOff x="692683" y="3150791"/>
            <a:chExt cx="7965543" cy="1451624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F9664296-4190-E52F-8B5E-82EED8444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683" y="3163939"/>
              <a:ext cx="3915321" cy="1438476"/>
            </a:xfrm>
            <a:prstGeom prst="rect">
              <a:avLst/>
            </a:prstGeom>
          </p:spPr>
        </p:pic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35A0EE69-E530-8213-8381-EFBE1D1AC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2905" y="3150791"/>
              <a:ext cx="3915321" cy="1384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8626836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Out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utline 14">
    <a:dk1>
      <a:srgbClr val="000000"/>
    </a:dk1>
    <a:lt1>
      <a:srgbClr val="FFFFFF"/>
    </a:lt1>
    <a:dk2>
      <a:srgbClr val="000000"/>
    </a:dk2>
    <a:lt2>
      <a:srgbClr val="808080"/>
    </a:lt2>
    <a:accent1>
      <a:srgbClr val="61CB96"/>
    </a:accent1>
    <a:accent2>
      <a:srgbClr val="008080"/>
    </a:accent2>
    <a:accent3>
      <a:srgbClr val="FFFFFF"/>
    </a:accent3>
    <a:accent4>
      <a:srgbClr val="000000"/>
    </a:accent4>
    <a:accent5>
      <a:srgbClr val="B7E2C9"/>
    </a:accent5>
    <a:accent6>
      <a:srgbClr val="007373"/>
    </a:accent6>
    <a:hlink>
      <a:srgbClr val="009999"/>
    </a:hlink>
    <a:folHlink>
      <a:srgbClr val="0066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31195</TotalTime>
  <Words>108</Words>
  <Application>Microsoft Office PowerPoint</Application>
  <PresentationFormat>Presentazione su schermo (4:3)</PresentationFormat>
  <Paragraphs>48</Paragraphs>
  <Slides>5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6" baseType="lpstr">
      <vt:lpstr>Arial</vt:lpstr>
      <vt:lpstr>Calibri</vt:lpstr>
      <vt:lpstr>Courier New</vt:lpstr>
      <vt:lpstr>Franklin Gothic Demi</vt:lpstr>
      <vt:lpstr>Franklin Gothic Demi Cond</vt:lpstr>
      <vt:lpstr>Franklin Gothic Heavy</vt:lpstr>
      <vt:lpstr>Franklin Gothic Medium</vt:lpstr>
      <vt:lpstr>Franklin Gothic Medium Cond</vt:lpstr>
      <vt:lpstr>Wingdings</vt:lpstr>
      <vt:lpstr>Struttura predefinita</vt:lpstr>
      <vt:lpstr>Outline</vt:lpstr>
      <vt:lpstr>Development and Evaluation of CTF Challenges about Insecure Deserialization Vulnerabilities in PHP and Java</vt:lpstr>
      <vt:lpstr>What is insecure deserialization?</vt:lpstr>
      <vt:lpstr>How si the challenge built?</vt:lpstr>
      <vt:lpstr>Attacks results</vt:lpstr>
      <vt:lpstr>Soluzioni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e valutazione di un protocollo di power management per reti di sensori</dc:title>
  <dc:subject>Copia riservata scaricata dall'utente r.spagnoletti@studenti.unipi.it in data 28/08/2026 22:44:29. L'utente ha effettuato il download nella piena consapevolezza che il documento è strettamente confidenziale e ne è vietata la divulgazione, diffusione o cessione a terzi.</dc:subject>
  <dc:creator>Utente: r.spagnoletti@studenti.unipi.it</dc:creator>
  <cp:lastModifiedBy>Riccardo Spagnoletti</cp:lastModifiedBy>
  <cp:revision>1216</cp:revision>
  <cp:lastPrinted>2016-05-24T07:18:58Z</cp:lastPrinted>
  <dcterms:created xsi:type="dcterms:W3CDTF">2005-03-30T13:34:00Z</dcterms:created>
  <dcterms:modified xsi:type="dcterms:W3CDTF">2026-10-01T09:16:40Z</dcterms:modified>
</cp:coreProperties>
</file>